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5" r:id="rId9"/>
    <p:sldId id="264" r:id="rId10"/>
    <p:sldId id="266" r:id="rId11"/>
    <p:sldId id="267" r:id="rId12"/>
    <p:sldId id="268" r:id="rId13"/>
    <p:sldId id="269" r:id="rId14"/>
    <p:sldId id="25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42"/>
    <p:restoredTop sz="96024"/>
  </p:normalViewPr>
  <p:slideViewPr>
    <p:cSldViewPr snapToGrid="0">
      <p:cViewPr>
        <p:scale>
          <a:sx n="137" d="100"/>
          <a:sy n="137" d="100"/>
        </p:scale>
        <p:origin x="1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78BB4-923A-DBBB-24BA-DA3A071383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E4EFF7-36BD-EC89-8BFD-953CF05F75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A94AA0-1766-DB5E-C0D0-29CC7E4F15EC}"/>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5" name="Footer Placeholder 4">
            <a:extLst>
              <a:ext uri="{FF2B5EF4-FFF2-40B4-BE49-F238E27FC236}">
                <a16:creationId xmlns:a16="http://schemas.microsoft.com/office/drawing/2014/main" id="{4C10DAF3-0E0B-15C9-0506-5DC7FF9BB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E20F7-61EE-9152-3F05-EC3B41F2C318}"/>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2546352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1D8F-3305-5B0F-ADAF-112C12694C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FDB5D-5CE2-C55B-6583-7242DDBF32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D8A9B8-7C0A-62E6-A0BB-0FABF0EE211B}"/>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5" name="Footer Placeholder 4">
            <a:extLst>
              <a:ext uri="{FF2B5EF4-FFF2-40B4-BE49-F238E27FC236}">
                <a16:creationId xmlns:a16="http://schemas.microsoft.com/office/drawing/2014/main" id="{C73FC93B-A27B-D5FD-1AD8-6825762CE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37B005-A5ED-9E1F-7302-78A1D7A42084}"/>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2217937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30E9-3DAB-2428-E10A-3A3842F30E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B5EF4F-BA57-80D8-BC53-6531606794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B3A26F-5A98-66D3-4E1A-58C132C8040F}"/>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5" name="Footer Placeholder 4">
            <a:extLst>
              <a:ext uri="{FF2B5EF4-FFF2-40B4-BE49-F238E27FC236}">
                <a16:creationId xmlns:a16="http://schemas.microsoft.com/office/drawing/2014/main" id="{BF3014FD-2126-4477-D3D2-AB94A1144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2A7A2-53D3-8010-5312-9A9AF414677B}"/>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2704480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A553-3B91-ABD9-FAE9-055EC3D90B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E8ACA0-758B-3C30-D3D2-86DEDA4539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ED746D-F4AD-670D-F3AD-E13ADF89DE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9D3A10-48CE-DF56-D9C6-3AA89BE5EECA}"/>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6" name="Footer Placeholder 5">
            <a:extLst>
              <a:ext uri="{FF2B5EF4-FFF2-40B4-BE49-F238E27FC236}">
                <a16:creationId xmlns:a16="http://schemas.microsoft.com/office/drawing/2014/main" id="{86FE03F8-3F68-8420-BC7E-8264882A5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AD9DB7-928D-BD3A-C8FE-4FE9CB5E527B}"/>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3407519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6342F-184B-5089-4959-99F1008EDA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D6D434-3604-6DC4-D821-68EDB96E04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725EB1-3B49-1B60-9321-4B3E11F4BB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558CC0-6D92-579F-47E4-94CB8C8B2D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2E208-0CDA-C1AA-AA76-5D49508A4D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4CC3D-41DF-B171-E9D2-E0CF69030A34}"/>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8" name="Footer Placeholder 7">
            <a:extLst>
              <a:ext uri="{FF2B5EF4-FFF2-40B4-BE49-F238E27FC236}">
                <a16:creationId xmlns:a16="http://schemas.microsoft.com/office/drawing/2014/main" id="{29D0F883-8A4E-6659-FD5D-8758D95F9E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D0867B-EE21-DB64-1CB6-674BAEADBB67}"/>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41059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6453E-310A-2F6B-ED9F-D0ACE9EEE8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42A0BC-27A4-6707-67E2-B5423FD771E3}"/>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4" name="Footer Placeholder 3">
            <a:extLst>
              <a:ext uri="{FF2B5EF4-FFF2-40B4-BE49-F238E27FC236}">
                <a16:creationId xmlns:a16="http://schemas.microsoft.com/office/drawing/2014/main" id="{136F204A-4EAB-0903-3E4A-802D609DE4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A7871E-0C84-7A48-EC11-0592EE58D997}"/>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337318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9BF7CD-9625-758F-36A9-3A282772DA34}"/>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3" name="Footer Placeholder 2">
            <a:extLst>
              <a:ext uri="{FF2B5EF4-FFF2-40B4-BE49-F238E27FC236}">
                <a16:creationId xmlns:a16="http://schemas.microsoft.com/office/drawing/2014/main" id="{7D27F355-870B-1EF2-2E1F-1384E80B6D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CB6718-DF71-12B5-BB67-8AF7881E883F}"/>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1900004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2EE0-A2AC-DA53-E35C-62FEE022AB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5E094B-0269-D663-9FB3-030A2F1F6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EC5600-E951-E220-E40B-A8606124C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BB1C9D-F1C1-7430-9FC0-13CF2D640DE7}"/>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6" name="Footer Placeholder 5">
            <a:extLst>
              <a:ext uri="{FF2B5EF4-FFF2-40B4-BE49-F238E27FC236}">
                <a16:creationId xmlns:a16="http://schemas.microsoft.com/office/drawing/2014/main" id="{1A1A3E51-D32E-ADBF-B5BB-4D9124AF50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F7C42-2557-E2BB-5D2A-A305E8719336}"/>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2628868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550A-2677-2328-47B1-7A2A0443D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5F9C69-A5FA-F296-5647-2B4DB5F6CD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21D195-ADE9-BF8E-FFDC-FC25B7B42A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85A4A-065F-0B06-E1F1-E913E6555771}"/>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6" name="Footer Placeholder 5">
            <a:extLst>
              <a:ext uri="{FF2B5EF4-FFF2-40B4-BE49-F238E27FC236}">
                <a16:creationId xmlns:a16="http://schemas.microsoft.com/office/drawing/2014/main" id="{5E91DF32-13D0-0722-0820-FBFB677B5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B39901-60D8-B963-36A4-4F4FB8C510C3}"/>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4144367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6DACA-C866-29AB-8CEC-7FFCA0732B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5CC855-645B-BE8C-F014-6672C7A30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DB921-4DE6-AF26-5DED-27574AB016EC}"/>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5" name="Footer Placeholder 4">
            <a:extLst>
              <a:ext uri="{FF2B5EF4-FFF2-40B4-BE49-F238E27FC236}">
                <a16:creationId xmlns:a16="http://schemas.microsoft.com/office/drawing/2014/main" id="{77B95F95-0620-5A56-06C3-24CF4FDEA1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D503BC-C46B-36D8-273B-6D21F513C9D1}"/>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2974233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18C28F-C80D-67A4-60C8-AC76C95A7B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5AAB99-DE1F-71B5-C87C-45C3C0C41D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B8807B-FDC0-39D4-095C-CE0F36AC03F8}"/>
              </a:ext>
            </a:extLst>
          </p:cNvPr>
          <p:cNvSpPr>
            <a:spLocks noGrp="1"/>
          </p:cNvSpPr>
          <p:nvPr>
            <p:ph type="dt" sz="half" idx="10"/>
          </p:nvPr>
        </p:nvSpPr>
        <p:spPr/>
        <p:txBody>
          <a:bodyPr/>
          <a:lstStyle/>
          <a:p>
            <a:fld id="{FC38A38E-E776-0D4F-BA94-484BCD81AD41}" type="datetimeFigureOut">
              <a:rPr lang="en-US" smtClean="0"/>
              <a:t>11/4/25</a:t>
            </a:fld>
            <a:endParaRPr lang="en-US"/>
          </a:p>
        </p:txBody>
      </p:sp>
      <p:sp>
        <p:nvSpPr>
          <p:cNvPr id="5" name="Footer Placeholder 4">
            <a:extLst>
              <a:ext uri="{FF2B5EF4-FFF2-40B4-BE49-F238E27FC236}">
                <a16:creationId xmlns:a16="http://schemas.microsoft.com/office/drawing/2014/main" id="{4EED06D1-96E8-9E6F-4526-15D6B0549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289BBF-6B12-7F39-5A0C-FC149093AB9C}"/>
              </a:ext>
            </a:extLst>
          </p:cNvPr>
          <p:cNvSpPr>
            <a:spLocks noGrp="1"/>
          </p:cNvSpPr>
          <p:nvPr>
            <p:ph type="sldNum" sz="quarter" idx="12"/>
          </p:nvPr>
        </p:nvSpPr>
        <p:spPr/>
        <p:txBody>
          <a:bodyPr/>
          <a:lstStyle/>
          <a:p>
            <a:fld id="{5505D742-3B3E-5144-8261-5D407F9DAD28}" type="slidenum">
              <a:rPr lang="en-US" smtClean="0"/>
              <a:t>‹#›</a:t>
            </a:fld>
            <a:endParaRPr lang="en-US"/>
          </a:p>
        </p:txBody>
      </p:sp>
    </p:spTree>
    <p:extLst>
      <p:ext uri="{BB962C8B-B14F-4D97-AF65-F5344CB8AC3E}">
        <p14:creationId xmlns:p14="http://schemas.microsoft.com/office/powerpoint/2010/main" val="185594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71213D-0691-1C1C-0C6B-9F170106CF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4BC506-0370-47A4-3D23-5DD3605436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2DDFD9-945C-5AAD-8FA3-5D99B9C845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38A38E-E776-0D4F-BA94-484BCD81AD41}" type="datetimeFigureOut">
              <a:rPr lang="en-US" smtClean="0"/>
              <a:t>11/4/25</a:t>
            </a:fld>
            <a:endParaRPr lang="en-US"/>
          </a:p>
        </p:txBody>
      </p:sp>
      <p:sp>
        <p:nvSpPr>
          <p:cNvPr id="5" name="Footer Placeholder 4">
            <a:extLst>
              <a:ext uri="{FF2B5EF4-FFF2-40B4-BE49-F238E27FC236}">
                <a16:creationId xmlns:a16="http://schemas.microsoft.com/office/drawing/2014/main" id="{24D8E5EB-886C-1AC1-C405-97AF71D09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10D8DD-B427-564A-B121-7D25B523F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05D742-3B3E-5144-8261-5D407F9DAD28}" type="slidenum">
              <a:rPr lang="en-US" smtClean="0"/>
              <a:t>‹#›</a:t>
            </a:fld>
            <a:endParaRPr lang="en-US"/>
          </a:p>
        </p:txBody>
      </p:sp>
    </p:spTree>
    <p:extLst>
      <p:ext uri="{BB962C8B-B14F-4D97-AF65-F5344CB8AC3E}">
        <p14:creationId xmlns:p14="http://schemas.microsoft.com/office/powerpoint/2010/main" val="2292201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AC696-B761-3C81-6BDB-0852A1230F36}"/>
              </a:ext>
            </a:extLst>
          </p:cNvPr>
          <p:cNvSpPr>
            <a:spLocks noGrp="1"/>
          </p:cNvSpPr>
          <p:nvPr>
            <p:ph type="ctrTitle"/>
          </p:nvPr>
        </p:nvSpPr>
        <p:spPr/>
        <p:txBody>
          <a:bodyPr/>
          <a:lstStyle/>
          <a:p>
            <a:r>
              <a:rPr lang="en-US" dirty="0"/>
              <a:t>Agentic Customer Project</a:t>
            </a:r>
          </a:p>
        </p:txBody>
      </p:sp>
      <p:sp>
        <p:nvSpPr>
          <p:cNvPr id="3" name="Subtitle 2">
            <a:extLst>
              <a:ext uri="{FF2B5EF4-FFF2-40B4-BE49-F238E27FC236}">
                <a16:creationId xmlns:a16="http://schemas.microsoft.com/office/drawing/2014/main" id="{8AB90062-D991-B524-4B5B-FD4A94FE0196}"/>
              </a:ext>
            </a:extLst>
          </p:cNvPr>
          <p:cNvSpPr>
            <a:spLocks noGrp="1"/>
          </p:cNvSpPr>
          <p:nvPr>
            <p:ph type="subTitle" idx="1"/>
          </p:nvPr>
        </p:nvSpPr>
        <p:spPr/>
        <p:txBody>
          <a:bodyPr/>
          <a:lstStyle/>
          <a:p>
            <a:r>
              <a:rPr lang="en-US" dirty="0"/>
              <a:t>AI STACK ARCHITECTURE</a:t>
            </a:r>
            <a:br>
              <a:rPr lang="en-US" dirty="0"/>
            </a:br>
            <a:endParaRPr lang="en-US" dirty="0"/>
          </a:p>
          <a:p>
            <a:r>
              <a:rPr lang="en-US" dirty="0"/>
              <a:t>SHIVRAM K. IYER Nov-04-2025</a:t>
            </a:r>
          </a:p>
        </p:txBody>
      </p:sp>
    </p:spTree>
    <p:extLst>
      <p:ext uri="{BB962C8B-B14F-4D97-AF65-F5344CB8AC3E}">
        <p14:creationId xmlns:p14="http://schemas.microsoft.com/office/powerpoint/2010/main" val="3048218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75F78-7FA5-D67D-51ED-977D7C2B69B5}"/>
              </a:ext>
            </a:extLst>
          </p:cNvPr>
          <p:cNvSpPr>
            <a:spLocks noGrp="1"/>
          </p:cNvSpPr>
          <p:nvPr>
            <p:ph type="title"/>
          </p:nvPr>
        </p:nvSpPr>
        <p:spPr>
          <a:xfrm>
            <a:off x="0" y="56469"/>
            <a:ext cx="12095544" cy="273045"/>
          </a:xfrm>
        </p:spPr>
        <p:txBody>
          <a:bodyPr>
            <a:normAutofit fontScale="90000"/>
          </a:bodyPr>
          <a:lstStyle/>
          <a:p>
            <a:r>
              <a:rPr lang="en-US" sz="2400" b="1" dirty="0"/>
              <a:t>1. AGENTIC CUSTOMER PROJECT – HIGH LEVEL SYSTEM ARCHITECTURE</a:t>
            </a:r>
          </a:p>
        </p:txBody>
      </p:sp>
      <p:sp>
        <p:nvSpPr>
          <p:cNvPr id="3" name="Content Placeholder 2">
            <a:extLst>
              <a:ext uri="{FF2B5EF4-FFF2-40B4-BE49-F238E27FC236}">
                <a16:creationId xmlns:a16="http://schemas.microsoft.com/office/drawing/2014/main" id="{C28B126E-197D-BFCA-20C8-2927E59B596B}"/>
              </a:ext>
            </a:extLst>
          </p:cNvPr>
          <p:cNvSpPr>
            <a:spLocks noGrp="1"/>
          </p:cNvSpPr>
          <p:nvPr>
            <p:ph idx="1"/>
          </p:nvPr>
        </p:nvSpPr>
        <p:spPr>
          <a:xfrm>
            <a:off x="838200" y="5697137"/>
            <a:ext cx="10515600" cy="479826"/>
          </a:xfrm>
        </p:spPr>
        <p:txBody>
          <a:bodyPr/>
          <a:lstStyle/>
          <a:p>
            <a:endParaRPr lang="en-US"/>
          </a:p>
        </p:txBody>
      </p:sp>
      <p:pic>
        <p:nvPicPr>
          <p:cNvPr id="21" name="Picture 20">
            <a:extLst>
              <a:ext uri="{FF2B5EF4-FFF2-40B4-BE49-F238E27FC236}">
                <a16:creationId xmlns:a16="http://schemas.microsoft.com/office/drawing/2014/main" id="{6FDF012B-0488-6FB8-E1F0-DB248BD5B321}"/>
              </a:ext>
            </a:extLst>
          </p:cNvPr>
          <p:cNvPicPr>
            <a:picLocks noChangeAspect="1"/>
          </p:cNvPicPr>
          <p:nvPr/>
        </p:nvPicPr>
        <p:blipFill>
          <a:blip r:embed="rId2"/>
          <a:stretch>
            <a:fillRect/>
          </a:stretch>
        </p:blipFill>
        <p:spPr>
          <a:xfrm>
            <a:off x="0" y="479466"/>
            <a:ext cx="12192000" cy="6378534"/>
          </a:xfrm>
          <a:prstGeom prst="rect">
            <a:avLst/>
          </a:prstGeom>
        </p:spPr>
      </p:pic>
    </p:spTree>
    <p:extLst>
      <p:ext uri="{BB962C8B-B14F-4D97-AF65-F5344CB8AC3E}">
        <p14:creationId xmlns:p14="http://schemas.microsoft.com/office/powerpoint/2010/main" val="4189969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54E3B-AB8C-CA89-C316-BC3EA0A1C58A}"/>
              </a:ext>
            </a:extLst>
          </p:cNvPr>
          <p:cNvSpPr>
            <a:spLocks noGrp="1"/>
          </p:cNvSpPr>
          <p:nvPr>
            <p:ph type="title"/>
          </p:nvPr>
        </p:nvSpPr>
        <p:spPr>
          <a:xfrm>
            <a:off x="0" y="0"/>
            <a:ext cx="12192000" cy="445103"/>
          </a:xfrm>
        </p:spPr>
        <p:txBody>
          <a:bodyPr>
            <a:normAutofit fontScale="90000"/>
          </a:bodyPr>
          <a:lstStyle/>
          <a:p>
            <a:r>
              <a:rPr lang="en-US" dirty="0"/>
              <a:t>2. Frontend – Component Architecture</a:t>
            </a:r>
          </a:p>
        </p:txBody>
      </p:sp>
      <p:pic>
        <p:nvPicPr>
          <p:cNvPr id="27" name="Picture 26">
            <a:extLst>
              <a:ext uri="{FF2B5EF4-FFF2-40B4-BE49-F238E27FC236}">
                <a16:creationId xmlns:a16="http://schemas.microsoft.com/office/drawing/2014/main" id="{316A702D-B269-50F8-BBA0-C031FC8B5E14}"/>
              </a:ext>
            </a:extLst>
          </p:cNvPr>
          <p:cNvPicPr>
            <a:picLocks noChangeAspect="1"/>
          </p:cNvPicPr>
          <p:nvPr/>
        </p:nvPicPr>
        <p:blipFill>
          <a:blip r:embed="rId2"/>
          <a:stretch>
            <a:fillRect/>
          </a:stretch>
        </p:blipFill>
        <p:spPr>
          <a:xfrm>
            <a:off x="2209800" y="889686"/>
            <a:ext cx="7772400" cy="5809299"/>
          </a:xfrm>
          <a:prstGeom prst="rect">
            <a:avLst/>
          </a:prstGeom>
        </p:spPr>
      </p:pic>
    </p:spTree>
    <p:extLst>
      <p:ext uri="{BB962C8B-B14F-4D97-AF65-F5344CB8AC3E}">
        <p14:creationId xmlns:p14="http://schemas.microsoft.com/office/powerpoint/2010/main" val="206601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5147B3-E274-F5CC-9F99-246248042D26}"/>
              </a:ext>
            </a:extLst>
          </p:cNvPr>
          <p:cNvPicPr>
            <a:picLocks noChangeAspect="1"/>
          </p:cNvPicPr>
          <p:nvPr/>
        </p:nvPicPr>
        <p:blipFill>
          <a:blip r:embed="rId2"/>
          <a:stretch>
            <a:fillRect/>
          </a:stretch>
        </p:blipFill>
        <p:spPr>
          <a:xfrm>
            <a:off x="-57664" y="329514"/>
            <a:ext cx="12249664" cy="6511510"/>
          </a:xfrm>
          <a:prstGeom prst="rect">
            <a:avLst/>
          </a:prstGeom>
        </p:spPr>
      </p:pic>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3. AGENTIC CUSTOMER PROJECT – BACKEND MODULE ARCHITECTURE</a:t>
            </a:r>
          </a:p>
        </p:txBody>
      </p:sp>
    </p:spTree>
    <p:extLst>
      <p:ext uri="{BB962C8B-B14F-4D97-AF65-F5344CB8AC3E}">
        <p14:creationId xmlns:p14="http://schemas.microsoft.com/office/powerpoint/2010/main" val="602667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4. AGENTIC CUSTOMER PROJECT – LANGGRAPH AGENT ORCHESTRATION FLOW</a:t>
            </a:r>
          </a:p>
        </p:txBody>
      </p:sp>
      <p:pic>
        <p:nvPicPr>
          <p:cNvPr id="2" name="Picture 1">
            <a:extLst>
              <a:ext uri="{FF2B5EF4-FFF2-40B4-BE49-F238E27FC236}">
                <a16:creationId xmlns:a16="http://schemas.microsoft.com/office/drawing/2014/main" id="{88973F02-18AE-5207-B042-6A12C74336D0}"/>
              </a:ext>
            </a:extLst>
          </p:cNvPr>
          <p:cNvPicPr>
            <a:picLocks noChangeAspect="1"/>
          </p:cNvPicPr>
          <p:nvPr/>
        </p:nvPicPr>
        <p:blipFill>
          <a:blip r:embed="rId2"/>
          <a:stretch>
            <a:fillRect/>
          </a:stretch>
        </p:blipFill>
        <p:spPr>
          <a:xfrm>
            <a:off x="602920" y="452672"/>
            <a:ext cx="5230530" cy="6147303"/>
          </a:xfrm>
          <a:prstGeom prst="rect">
            <a:avLst/>
          </a:prstGeom>
          <a:noFill/>
          <a:ln>
            <a:solidFill>
              <a:schemeClr val="accent1"/>
            </a:solidFill>
          </a:ln>
        </p:spPr>
      </p:pic>
      <p:pic>
        <p:nvPicPr>
          <p:cNvPr id="3" name="Picture 2">
            <a:extLst>
              <a:ext uri="{FF2B5EF4-FFF2-40B4-BE49-F238E27FC236}">
                <a16:creationId xmlns:a16="http://schemas.microsoft.com/office/drawing/2014/main" id="{EF767153-20B7-B6DC-389E-767BA281D5F4}"/>
              </a:ext>
            </a:extLst>
          </p:cNvPr>
          <p:cNvPicPr>
            <a:picLocks noChangeAspect="1"/>
          </p:cNvPicPr>
          <p:nvPr/>
        </p:nvPicPr>
        <p:blipFill>
          <a:blip r:embed="rId3"/>
          <a:stretch>
            <a:fillRect/>
          </a:stretch>
        </p:blipFill>
        <p:spPr>
          <a:xfrm>
            <a:off x="8250196" y="509141"/>
            <a:ext cx="2695443" cy="6348859"/>
          </a:xfrm>
          <a:prstGeom prst="rect">
            <a:avLst/>
          </a:prstGeom>
          <a:noFill/>
          <a:ln>
            <a:solidFill>
              <a:schemeClr val="accent1"/>
            </a:solidFill>
          </a:ln>
        </p:spPr>
      </p:pic>
      <p:cxnSp>
        <p:nvCxnSpPr>
          <p:cNvPr id="7" name="Elbow Connector 6">
            <a:extLst>
              <a:ext uri="{FF2B5EF4-FFF2-40B4-BE49-F238E27FC236}">
                <a16:creationId xmlns:a16="http://schemas.microsoft.com/office/drawing/2014/main" id="{77175481-AA03-268D-7F1E-101B9B4ACFE2}"/>
              </a:ext>
            </a:extLst>
          </p:cNvPr>
          <p:cNvCxnSpPr>
            <a:stCxn id="2" idx="2"/>
            <a:endCxn id="3" idx="0"/>
          </p:cNvCxnSpPr>
          <p:nvPr/>
        </p:nvCxnSpPr>
        <p:spPr>
          <a:xfrm rot="5400000" flipH="1" flipV="1">
            <a:off x="3362634" y="364691"/>
            <a:ext cx="6090834" cy="6379733"/>
          </a:xfrm>
          <a:prstGeom prst="bentConnector5">
            <a:avLst>
              <a:gd name="adj1" fmla="val -2671"/>
              <a:gd name="adj2" fmla="val 59934"/>
              <a:gd name="adj3" fmla="val 10294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836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5. AGENTIC CUSTOMER PROJECT – DOCUMENT INGESTION PIPELINE</a:t>
            </a:r>
          </a:p>
        </p:txBody>
      </p:sp>
      <p:pic>
        <p:nvPicPr>
          <p:cNvPr id="2" name="Picture 1">
            <a:extLst>
              <a:ext uri="{FF2B5EF4-FFF2-40B4-BE49-F238E27FC236}">
                <a16:creationId xmlns:a16="http://schemas.microsoft.com/office/drawing/2014/main" id="{7A720C63-C2C8-1D8F-9195-23A6D40B29F5}"/>
              </a:ext>
            </a:extLst>
          </p:cNvPr>
          <p:cNvPicPr>
            <a:picLocks noChangeAspect="1"/>
          </p:cNvPicPr>
          <p:nvPr/>
        </p:nvPicPr>
        <p:blipFill>
          <a:blip r:embed="rId2"/>
          <a:stretch>
            <a:fillRect/>
          </a:stretch>
        </p:blipFill>
        <p:spPr>
          <a:xfrm>
            <a:off x="-13217" y="2381061"/>
            <a:ext cx="12141599" cy="1403288"/>
          </a:xfrm>
          <a:prstGeom prst="rect">
            <a:avLst/>
          </a:prstGeom>
        </p:spPr>
      </p:pic>
    </p:spTree>
    <p:extLst>
      <p:ext uri="{BB962C8B-B14F-4D97-AF65-F5344CB8AC3E}">
        <p14:creationId xmlns:p14="http://schemas.microsoft.com/office/powerpoint/2010/main" val="3946606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6. AGENTIC CUSTOMER PROJECT – CHAT QUERY DATA FLOW</a:t>
            </a:r>
          </a:p>
        </p:txBody>
      </p:sp>
      <p:pic>
        <p:nvPicPr>
          <p:cNvPr id="2" name="Picture 1">
            <a:extLst>
              <a:ext uri="{FF2B5EF4-FFF2-40B4-BE49-F238E27FC236}">
                <a16:creationId xmlns:a16="http://schemas.microsoft.com/office/drawing/2014/main" id="{A705D167-A8C7-3600-5BD0-91FE622730C6}"/>
              </a:ext>
            </a:extLst>
          </p:cNvPr>
          <p:cNvPicPr>
            <a:picLocks noChangeAspect="1"/>
          </p:cNvPicPr>
          <p:nvPr/>
        </p:nvPicPr>
        <p:blipFill>
          <a:blip r:embed="rId2"/>
          <a:stretch>
            <a:fillRect/>
          </a:stretch>
        </p:blipFill>
        <p:spPr>
          <a:xfrm>
            <a:off x="296562" y="425512"/>
            <a:ext cx="11285838" cy="6432487"/>
          </a:xfrm>
          <a:prstGeom prst="rect">
            <a:avLst/>
          </a:prstGeom>
        </p:spPr>
      </p:pic>
    </p:spTree>
    <p:extLst>
      <p:ext uri="{BB962C8B-B14F-4D97-AF65-F5344CB8AC3E}">
        <p14:creationId xmlns:p14="http://schemas.microsoft.com/office/powerpoint/2010/main" val="3190150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7. AGENTIC CUSTOMER PROJECT – DOCUMENT UPLOAD DATA FLOW</a:t>
            </a:r>
          </a:p>
        </p:txBody>
      </p:sp>
      <p:pic>
        <p:nvPicPr>
          <p:cNvPr id="3" name="Picture 2">
            <a:extLst>
              <a:ext uri="{FF2B5EF4-FFF2-40B4-BE49-F238E27FC236}">
                <a16:creationId xmlns:a16="http://schemas.microsoft.com/office/drawing/2014/main" id="{795DABC3-AE4B-270C-4190-B83703957FEA}"/>
              </a:ext>
            </a:extLst>
          </p:cNvPr>
          <p:cNvPicPr>
            <a:picLocks noChangeAspect="1"/>
          </p:cNvPicPr>
          <p:nvPr/>
        </p:nvPicPr>
        <p:blipFill>
          <a:blip r:embed="rId2"/>
          <a:stretch>
            <a:fillRect/>
          </a:stretch>
        </p:blipFill>
        <p:spPr>
          <a:xfrm>
            <a:off x="869133" y="434566"/>
            <a:ext cx="10628768" cy="6423434"/>
          </a:xfrm>
          <a:prstGeom prst="rect">
            <a:avLst/>
          </a:prstGeom>
          <a:ln>
            <a:solidFill>
              <a:schemeClr val="accent1"/>
            </a:solidFill>
          </a:ln>
        </p:spPr>
      </p:pic>
    </p:spTree>
    <p:extLst>
      <p:ext uri="{BB962C8B-B14F-4D97-AF65-F5344CB8AC3E}">
        <p14:creationId xmlns:p14="http://schemas.microsoft.com/office/powerpoint/2010/main" val="1459690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8. AGENTIC CUSTOMER PROJECT – VECTOR DATABASE - COLLECTIONS</a:t>
            </a:r>
          </a:p>
        </p:txBody>
      </p:sp>
      <p:pic>
        <p:nvPicPr>
          <p:cNvPr id="2" name="Picture 1">
            <a:extLst>
              <a:ext uri="{FF2B5EF4-FFF2-40B4-BE49-F238E27FC236}">
                <a16:creationId xmlns:a16="http://schemas.microsoft.com/office/drawing/2014/main" id="{366BBE14-8ED9-A075-5D3F-BCD809A7BA62}"/>
              </a:ext>
            </a:extLst>
          </p:cNvPr>
          <p:cNvPicPr>
            <a:picLocks noChangeAspect="1"/>
          </p:cNvPicPr>
          <p:nvPr/>
        </p:nvPicPr>
        <p:blipFill>
          <a:blip r:embed="rId2"/>
          <a:stretch>
            <a:fillRect/>
          </a:stretch>
        </p:blipFill>
        <p:spPr>
          <a:xfrm>
            <a:off x="2209800" y="607674"/>
            <a:ext cx="7772400" cy="5642652"/>
          </a:xfrm>
          <a:prstGeom prst="rect">
            <a:avLst/>
          </a:prstGeom>
        </p:spPr>
      </p:pic>
    </p:spTree>
    <p:extLst>
      <p:ext uri="{BB962C8B-B14F-4D97-AF65-F5344CB8AC3E}">
        <p14:creationId xmlns:p14="http://schemas.microsoft.com/office/powerpoint/2010/main" val="652515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9. AGENTIC CUSTOMER PROJECT – DOCUMENT RETRIEVAL STRATEGY COMPARISON</a:t>
            </a:r>
          </a:p>
        </p:txBody>
      </p:sp>
      <p:pic>
        <p:nvPicPr>
          <p:cNvPr id="3" name="Picture 2">
            <a:extLst>
              <a:ext uri="{FF2B5EF4-FFF2-40B4-BE49-F238E27FC236}">
                <a16:creationId xmlns:a16="http://schemas.microsoft.com/office/drawing/2014/main" id="{CC05BAFE-3B32-A08B-AA15-4F1E3EF1DAAC}"/>
              </a:ext>
            </a:extLst>
          </p:cNvPr>
          <p:cNvPicPr>
            <a:picLocks noChangeAspect="1"/>
          </p:cNvPicPr>
          <p:nvPr/>
        </p:nvPicPr>
        <p:blipFill>
          <a:blip r:embed="rId2"/>
          <a:stretch>
            <a:fillRect/>
          </a:stretch>
        </p:blipFill>
        <p:spPr>
          <a:xfrm>
            <a:off x="2209800" y="398352"/>
            <a:ext cx="7772400" cy="6208656"/>
          </a:xfrm>
          <a:prstGeom prst="rect">
            <a:avLst/>
          </a:prstGeom>
        </p:spPr>
      </p:pic>
    </p:spTree>
    <p:extLst>
      <p:ext uri="{BB962C8B-B14F-4D97-AF65-F5344CB8AC3E}">
        <p14:creationId xmlns:p14="http://schemas.microsoft.com/office/powerpoint/2010/main" val="23527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10. AGENTIC CUSTOMER PROJECT – LLM PROVIDER SELECTION STRATEGY</a:t>
            </a:r>
          </a:p>
        </p:txBody>
      </p:sp>
      <p:pic>
        <p:nvPicPr>
          <p:cNvPr id="2" name="Picture 1">
            <a:extLst>
              <a:ext uri="{FF2B5EF4-FFF2-40B4-BE49-F238E27FC236}">
                <a16:creationId xmlns:a16="http://schemas.microsoft.com/office/drawing/2014/main" id="{7E922F9F-B79A-8B89-128D-AE9F7611DCC3}"/>
              </a:ext>
            </a:extLst>
          </p:cNvPr>
          <p:cNvPicPr>
            <a:picLocks noChangeAspect="1"/>
          </p:cNvPicPr>
          <p:nvPr/>
        </p:nvPicPr>
        <p:blipFill>
          <a:blip r:embed="rId2"/>
          <a:stretch>
            <a:fillRect/>
          </a:stretch>
        </p:blipFill>
        <p:spPr>
          <a:xfrm>
            <a:off x="1878227" y="588474"/>
            <a:ext cx="8279027" cy="6269525"/>
          </a:xfrm>
          <a:prstGeom prst="rect">
            <a:avLst/>
          </a:prstGeom>
          <a:ln>
            <a:solidFill>
              <a:schemeClr val="accent1"/>
            </a:solidFill>
          </a:ln>
        </p:spPr>
      </p:pic>
    </p:spTree>
    <p:extLst>
      <p:ext uri="{BB962C8B-B14F-4D97-AF65-F5344CB8AC3E}">
        <p14:creationId xmlns:p14="http://schemas.microsoft.com/office/powerpoint/2010/main" val="3846602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11. AGENTIC CUSTOMER PROJECT – API ENDPOINT ARCHITECTURE</a:t>
            </a:r>
          </a:p>
        </p:txBody>
      </p:sp>
      <p:pic>
        <p:nvPicPr>
          <p:cNvPr id="2" name="Picture 1">
            <a:extLst>
              <a:ext uri="{FF2B5EF4-FFF2-40B4-BE49-F238E27FC236}">
                <a16:creationId xmlns:a16="http://schemas.microsoft.com/office/drawing/2014/main" id="{C521257A-CBD1-FA10-F8E5-C2BEEB231A41}"/>
              </a:ext>
            </a:extLst>
          </p:cNvPr>
          <p:cNvPicPr>
            <a:picLocks noChangeAspect="1"/>
          </p:cNvPicPr>
          <p:nvPr/>
        </p:nvPicPr>
        <p:blipFill>
          <a:blip r:embed="rId2"/>
          <a:stretch>
            <a:fillRect/>
          </a:stretch>
        </p:blipFill>
        <p:spPr>
          <a:xfrm>
            <a:off x="-737" y="2067696"/>
            <a:ext cx="12208393" cy="1878227"/>
          </a:xfrm>
          <a:prstGeom prst="rect">
            <a:avLst/>
          </a:prstGeom>
        </p:spPr>
      </p:pic>
    </p:spTree>
    <p:extLst>
      <p:ext uri="{BB962C8B-B14F-4D97-AF65-F5344CB8AC3E}">
        <p14:creationId xmlns:p14="http://schemas.microsoft.com/office/powerpoint/2010/main" val="189654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477C1A-1349-F567-F82F-BC1A767D75ED}"/>
              </a:ext>
            </a:extLst>
          </p:cNvPr>
          <p:cNvSpPr>
            <a:spLocks noGrp="1"/>
          </p:cNvSpPr>
          <p:nvPr>
            <p:ph type="title"/>
          </p:nvPr>
        </p:nvSpPr>
        <p:spPr>
          <a:xfrm>
            <a:off x="0" y="56469"/>
            <a:ext cx="12095544" cy="273045"/>
          </a:xfrm>
        </p:spPr>
        <p:txBody>
          <a:bodyPr>
            <a:normAutofit fontScale="90000"/>
          </a:bodyPr>
          <a:lstStyle/>
          <a:p>
            <a:r>
              <a:rPr lang="en-US" sz="2400" b="1" dirty="0"/>
              <a:t>12. AGENTIC CUSTOMER PROJECT – COMPLETE SYSTEM INTEGRATION</a:t>
            </a:r>
          </a:p>
        </p:txBody>
      </p:sp>
      <p:pic>
        <p:nvPicPr>
          <p:cNvPr id="2" name="Picture 1">
            <a:extLst>
              <a:ext uri="{FF2B5EF4-FFF2-40B4-BE49-F238E27FC236}">
                <a16:creationId xmlns:a16="http://schemas.microsoft.com/office/drawing/2014/main" id="{FDCAECC1-99A5-6BD1-8064-CA3811FEC342}"/>
              </a:ext>
            </a:extLst>
          </p:cNvPr>
          <p:cNvPicPr>
            <a:picLocks noChangeAspect="1"/>
          </p:cNvPicPr>
          <p:nvPr/>
        </p:nvPicPr>
        <p:blipFill>
          <a:blip r:embed="rId2"/>
          <a:stretch>
            <a:fillRect/>
          </a:stretch>
        </p:blipFill>
        <p:spPr>
          <a:xfrm>
            <a:off x="716693" y="469556"/>
            <a:ext cx="10157254" cy="6273114"/>
          </a:xfrm>
          <a:prstGeom prst="rect">
            <a:avLst/>
          </a:prstGeom>
        </p:spPr>
      </p:pic>
    </p:spTree>
    <p:extLst>
      <p:ext uri="{BB962C8B-B14F-4D97-AF65-F5344CB8AC3E}">
        <p14:creationId xmlns:p14="http://schemas.microsoft.com/office/powerpoint/2010/main" val="231930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DB2C-B5F0-1BA1-38B0-2A48DADCAA8D}"/>
              </a:ext>
            </a:extLst>
          </p:cNvPr>
          <p:cNvSpPr>
            <a:spLocks noGrp="1"/>
          </p:cNvSpPr>
          <p:nvPr>
            <p:ph type="title"/>
          </p:nvPr>
        </p:nvSpPr>
        <p:spPr>
          <a:xfrm>
            <a:off x="838200" y="166486"/>
            <a:ext cx="10515600" cy="514551"/>
          </a:xfrm>
        </p:spPr>
        <p:txBody>
          <a:bodyPr>
            <a:normAutofit fontScale="90000"/>
          </a:bodyPr>
          <a:lstStyle/>
          <a:p>
            <a:r>
              <a:rPr lang="en-US" dirty="0"/>
              <a:t>Process for PDF to vector</a:t>
            </a:r>
          </a:p>
        </p:txBody>
      </p:sp>
      <p:sp>
        <p:nvSpPr>
          <p:cNvPr id="3" name="Content Placeholder 2">
            <a:extLst>
              <a:ext uri="{FF2B5EF4-FFF2-40B4-BE49-F238E27FC236}">
                <a16:creationId xmlns:a16="http://schemas.microsoft.com/office/drawing/2014/main" id="{9CF31551-E463-DFB2-A042-D5B4A0064E1A}"/>
              </a:ext>
            </a:extLst>
          </p:cNvPr>
          <p:cNvSpPr>
            <a:spLocks noGrp="1"/>
          </p:cNvSpPr>
          <p:nvPr>
            <p:ph idx="1"/>
          </p:nvPr>
        </p:nvSpPr>
        <p:spPr>
          <a:xfrm>
            <a:off x="381965" y="783904"/>
            <a:ext cx="11493660" cy="4308958"/>
          </a:xfrm>
        </p:spPr>
        <p:txBody>
          <a:bodyPr>
            <a:normAutofit fontScale="70000" lnSpcReduction="20000"/>
          </a:bodyPr>
          <a:lstStyle/>
          <a:p>
            <a:r>
              <a:rPr lang="en-US" sz="2400" dirty="0"/>
              <a:t>PDF broken into text chunks of fixed number of characters – say 100.</a:t>
            </a:r>
          </a:p>
          <a:p>
            <a:r>
              <a:rPr lang="en-US" sz="2400" dirty="0"/>
              <a:t>Chunks have overlap characters with previous and subsequent chunks for context sharing.</a:t>
            </a:r>
          </a:p>
          <a:p>
            <a:r>
              <a:rPr lang="en-US" sz="2400" dirty="0"/>
              <a:t>These </a:t>
            </a:r>
            <a:r>
              <a:rPr lang="en-US" sz="2400" b="1" dirty="0"/>
              <a:t>text chunks are broken into smaller units called “tokens” by tokenizer </a:t>
            </a:r>
            <a:r>
              <a:rPr lang="en-US" sz="2400" dirty="0"/>
              <a:t>method of the embedding model.</a:t>
            </a:r>
          </a:p>
          <a:p>
            <a:r>
              <a:rPr lang="en-US" sz="2400" b="1" dirty="0"/>
              <a:t>Each token </a:t>
            </a:r>
            <a:r>
              <a:rPr lang="en-US" sz="2400" dirty="0"/>
              <a:t>which is still text strings is then mapped to numerical representation aka </a:t>
            </a:r>
            <a:r>
              <a:rPr lang="en-US" sz="2400" b="1" dirty="0"/>
              <a:t>vector for each token</a:t>
            </a:r>
            <a:r>
              <a:rPr lang="en-US" sz="2400" dirty="0"/>
              <a:t>, by an encoding algorithm like one-hot encoding (produces sparse binary vector representation) or cl100k_base encoding from </a:t>
            </a:r>
            <a:r>
              <a:rPr lang="en-US" sz="2400" dirty="0" err="1"/>
              <a:t>OpenAI</a:t>
            </a:r>
            <a:r>
              <a:rPr lang="en-US" sz="2400" dirty="0"/>
              <a:t> OR Word2Vec encoding (produces dense continuous vector representation of the token) etc.</a:t>
            </a:r>
          </a:p>
          <a:p>
            <a:r>
              <a:rPr lang="en-US" sz="2400" dirty="0"/>
              <a:t>String of token vectors are then processed thru transformer models like pre-trained neural network layers which result in transforming each token’s vector into a dense vector based on semantic meaning of words within context of the text chunk.</a:t>
            </a:r>
          </a:p>
          <a:p>
            <a:r>
              <a:rPr lang="en-US" sz="2400" dirty="0"/>
              <a:t>Finally the string of dense vectors for each token is now aggregated by the embedding model to produce a single fixed-size vector that represents the entire text chunk.</a:t>
            </a:r>
          </a:p>
          <a:p>
            <a:r>
              <a:rPr lang="en-US" sz="2400" dirty="0"/>
              <a:t>This vector is known as the “embedding” of the text chunk. Similar text chunks will have embedding vectors that are close together while dissimilar chunks will be further apart.</a:t>
            </a:r>
          </a:p>
          <a:p>
            <a:r>
              <a:rPr lang="en-US" sz="2400" dirty="0"/>
              <a:t>The dimensionality of the vector generated is determined by the embedding model and is fixed for all vectors generated by that model.</a:t>
            </a:r>
          </a:p>
          <a:p>
            <a:r>
              <a:rPr lang="en-US" sz="2400" dirty="0"/>
              <a:t>Higher dimensionality allows for more complex data representation with higher accuracy but increases computational and memory requirements and therefore can slow down performance. Nomic Embed Text embedding model allows for choosing dimensionality between 64 to 768 which is the default.</a:t>
            </a:r>
          </a:p>
          <a:p>
            <a:endParaRPr lang="en-US" sz="2400" dirty="0"/>
          </a:p>
          <a:p>
            <a:pPr marL="0" indent="0">
              <a:buNone/>
            </a:pPr>
            <a:endParaRPr lang="en-US" sz="2400" dirty="0"/>
          </a:p>
          <a:p>
            <a:endParaRPr lang="en-US" sz="2400" dirty="0"/>
          </a:p>
        </p:txBody>
      </p:sp>
    </p:spTree>
    <p:extLst>
      <p:ext uri="{BB962C8B-B14F-4D97-AF65-F5344CB8AC3E}">
        <p14:creationId xmlns:p14="http://schemas.microsoft.com/office/powerpoint/2010/main" val="3408383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7549</TotalTime>
  <Words>397</Words>
  <Application>Microsoft Macintosh PowerPoint</Application>
  <PresentationFormat>Widescreen</PresentationFormat>
  <Paragraphs>26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Agentic Customer Project</vt:lpstr>
      <vt:lpstr>1. AGENTIC CUSTOMER PROJECT – HIGH LEVEL SYSTEM ARCHITECTURE</vt:lpstr>
      <vt:lpstr>2. Frontend – Component Architecture</vt:lpstr>
      <vt:lpstr>3. AGENTIC CUSTOMER PROJECT – BACKEND MODULE ARCHITECTURE</vt:lpstr>
      <vt:lpstr>4. AGENTIC CUSTOMER PROJECT – LANGGRAPH AGENT ORCHESTRATION FLOW</vt:lpstr>
      <vt:lpstr>5. AGENTIC CUSTOMER PROJECT – DOCUMENT INGESTION PIPELINE</vt:lpstr>
      <vt:lpstr>6. AGENTIC CUSTOMER PROJECT – CHAT QUERY DATA FLOW</vt:lpstr>
      <vt:lpstr>7. AGENTIC CUSTOMER PROJECT – DOCUMENT UPLOAD DATA FLOW</vt:lpstr>
      <vt:lpstr>8. AGENTIC CUSTOMER PROJECT – VECTOR DATABASE - COLLECTIONS</vt:lpstr>
      <vt:lpstr>9. AGENTIC CUSTOMER PROJECT – DOCUMENT RETRIEVAL STRATEGY COMPARISON</vt:lpstr>
      <vt:lpstr>10. AGENTIC CUSTOMER PROJECT – LLM PROVIDER SELECTION STRATEGY</vt:lpstr>
      <vt:lpstr>11. AGENTIC CUSTOMER PROJECT – API ENDPOINT ARCHITECTURE</vt:lpstr>
      <vt:lpstr>12. AGENTIC CUSTOMER PROJECT – COMPLETE SYSTEM INTEGRATION</vt:lpstr>
      <vt:lpstr>Process for PDF to vector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Customer Project</dc:title>
  <dc:creator>Manasa Iyer (Student)</dc:creator>
  <cp:lastModifiedBy>Manasa Iyer (Student)</cp:lastModifiedBy>
  <cp:revision>14</cp:revision>
  <dcterms:created xsi:type="dcterms:W3CDTF">2025-10-24T05:46:59Z</dcterms:created>
  <dcterms:modified xsi:type="dcterms:W3CDTF">2025-11-04T09:55:26Z</dcterms:modified>
</cp:coreProperties>
</file>